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ora" charset="1" panose="00000500000000000000"/>
      <p:regular r:id="rId16"/>
    </p:embeddedFont>
    <p:embeddedFont>
      <p:font typeface="Lora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6659" y="688705"/>
            <a:ext cx="9335691" cy="265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Movie &amp; Music Recommendation Systems Using 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392610"/>
            <a:ext cx="8686036" cy="542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</a:pPr>
            <a:r>
              <a:rPr lang="en-US" sz="2282" b="true">
                <a:solidFill>
                  <a:srgbClr val="92D050"/>
                </a:solidFill>
                <a:latin typeface="Lora Bold"/>
                <a:ea typeface="Lora Bold"/>
                <a:cs typeface="Lora Bold"/>
                <a:sym typeface="Lora Bold"/>
              </a:rPr>
              <a:t>Presented by -</a:t>
            </a:r>
            <a:r>
              <a:rPr lang="en-US" sz="2282">
                <a:solidFill>
                  <a:srgbClr val="92D050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  <a:p>
            <a:pPr algn="l">
              <a:lnSpc>
                <a:spcPts val="2852"/>
              </a:lnSpc>
            </a:pPr>
          </a:p>
          <a:p>
            <a:pPr algn="l" marL="492704" indent="-246352" lvl="1">
              <a:lnSpc>
                <a:spcPts val="2852"/>
              </a:lnSpc>
              <a:buAutoNum type="arabicPeriod" startAt="1"/>
            </a:pPr>
            <a:r>
              <a:rPr lang="en-US" sz="2282">
                <a:solidFill>
                  <a:srgbClr val="92D050"/>
                </a:solidFill>
                <a:latin typeface="Lora"/>
                <a:ea typeface="Lora"/>
                <a:cs typeface="Lora"/>
                <a:sym typeface="Lora"/>
              </a:rPr>
              <a:t> DEBMALLYA GHOSH (ROLL NO. : 10301623026) (ELECTRICAL ENGINEERING)</a:t>
            </a:r>
          </a:p>
          <a:p>
            <a:pPr algn="l">
              <a:lnSpc>
                <a:spcPts val="2852"/>
              </a:lnSpc>
            </a:pPr>
            <a:r>
              <a:rPr lang="en-US" sz="2282">
                <a:solidFill>
                  <a:srgbClr val="92D050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  <a:p>
            <a:pPr algn="l" marL="492704" indent="-246352" lvl="1">
              <a:lnSpc>
                <a:spcPts val="2852"/>
              </a:lnSpc>
              <a:buAutoNum type="arabicPeriod" startAt="1"/>
            </a:pPr>
            <a:r>
              <a:rPr lang="en-US" sz="2282">
                <a:solidFill>
                  <a:srgbClr val="92D05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2282">
                <a:solidFill>
                  <a:srgbClr val="92D050"/>
                </a:solidFill>
                <a:latin typeface="Lora"/>
                <a:ea typeface="Lora"/>
                <a:cs typeface="Lora"/>
                <a:sym typeface="Lora"/>
              </a:rPr>
              <a:t>PRIYANKA DUTTA (ROLL NO. : 10300323104) (ELECTRONICS AND COMMUNICATION ENGINEERING)</a:t>
            </a:r>
          </a:p>
          <a:p>
            <a:pPr algn="l">
              <a:lnSpc>
                <a:spcPts val="2852"/>
              </a:lnSpc>
            </a:pPr>
          </a:p>
          <a:p>
            <a:pPr algn="l" marL="492704" indent="-246352" lvl="1">
              <a:lnSpc>
                <a:spcPts val="2852"/>
              </a:lnSpc>
              <a:buAutoNum type="arabicPeriod" startAt="1"/>
            </a:pPr>
            <a:r>
              <a:rPr lang="en-US" sz="2282">
                <a:solidFill>
                  <a:srgbClr val="92D050"/>
                </a:solidFill>
                <a:latin typeface="Lora"/>
                <a:ea typeface="Lora"/>
                <a:cs typeface="Lora"/>
                <a:sym typeface="Lora"/>
              </a:rPr>
              <a:t>PIJUSH MANNA (ROLL NO. : 10301623052) (ELECTRICAL ENGINEERING)</a:t>
            </a:r>
          </a:p>
          <a:p>
            <a:pPr algn="l">
              <a:lnSpc>
                <a:spcPts val="2852"/>
              </a:lnSpc>
            </a:pPr>
          </a:p>
          <a:p>
            <a:pPr algn="l">
              <a:lnSpc>
                <a:spcPts val="2852"/>
              </a:lnSpc>
            </a:pPr>
            <a:r>
              <a:rPr lang="en-US" sz="2282" b="true">
                <a:solidFill>
                  <a:srgbClr val="92D050"/>
                </a:solidFill>
                <a:latin typeface="Lora Bold"/>
                <a:ea typeface="Lora Bold"/>
                <a:cs typeface="Lora Bold"/>
                <a:sym typeface="Lora Bold"/>
              </a:rPr>
              <a:t>Group Name : TRIMIND</a:t>
            </a:r>
          </a:p>
          <a:p>
            <a:pPr algn="l">
              <a:lnSpc>
                <a:spcPts val="2852"/>
              </a:lnSpc>
            </a:pPr>
          </a:p>
          <a:p>
            <a:pPr algn="l">
              <a:lnSpc>
                <a:spcPts val="2852"/>
              </a:lnSpc>
            </a:pPr>
            <a:r>
              <a:rPr lang="en-US" sz="2282" b="true">
                <a:solidFill>
                  <a:srgbClr val="92D050"/>
                </a:solidFill>
                <a:latin typeface="Lora Bold"/>
                <a:ea typeface="Lora Bold"/>
                <a:cs typeface="Lora Bold"/>
                <a:sym typeface="Lora Bold"/>
              </a:rPr>
              <a:t>Teacher’s Name : Mr. DEBASHIS SAHOO Sir</a:t>
            </a:r>
          </a:p>
          <a:p>
            <a:pPr algn="l">
              <a:lnSpc>
                <a:spcPts val="28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3247" y="1662500"/>
            <a:ext cx="13358099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9"/>
              </a:lnSpc>
            </a:pPr>
            <a:r>
              <a:rPr lang="en-US" sz="5799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Why Recommendation Systems Matter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56684" y="3897211"/>
            <a:ext cx="1132580" cy="1132580"/>
            <a:chOff x="0" y="0"/>
            <a:chExt cx="1510106" cy="151010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510157" cy="1510157"/>
            </a:xfrm>
            <a:custGeom>
              <a:avLst/>
              <a:gdLst/>
              <a:ahLst/>
              <a:cxnLst/>
              <a:rect r="r" b="b" t="t" l="l"/>
              <a:pathLst>
                <a:path h="1510157" w="1510157">
                  <a:moveTo>
                    <a:pt x="0" y="0"/>
                  </a:moveTo>
                  <a:lnTo>
                    <a:pt x="1510157" y="0"/>
                  </a:lnTo>
                  <a:lnTo>
                    <a:pt x="1510157" y="1510157"/>
                  </a:lnTo>
                  <a:lnTo>
                    <a:pt x="0" y="151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572788" y="3887686"/>
            <a:ext cx="3555325" cy="45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49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Driving Engagement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53738" y="4513659"/>
            <a:ext cx="3641969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Platforms like Netflix, Spotify, and YouTube thrive on keeping users engaged through tailored recommendations, fostering continuous content discovery.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69716" y="3897211"/>
            <a:ext cx="1132580" cy="1132580"/>
            <a:chOff x="0" y="0"/>
            <a:chExt cx="1510106" cy="151010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510157" cy="1510157"/>
            </a:xfrm>
            <a:custGeom>
              <a:avLst/>
              <a:gdLst/>
              <a:ahLst/>
              <a:cxnLst/>
              <a:rect r="r" b="b" t="t" l="l"/>
              <a:pathLst>
                <a:path h="1510157" w="1510157">
                  <a:moveTo>
                    <a:pt x="0" y="0"/>
                  </a:moveTo>
                  <a:lnTo>
                    <a:pt x="1510157" y="0"/>
                  </a:lnTo>
                  <a:lnTo>
                    <a:pt x="1510157" y="1510157"/>
                  </a:lnTo>
                  <a:lnTo>
                    <a:pt x="0" y="151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76305" y="3887686"/>
            <a:ext cx="3641969" cy="92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49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Personalised Discovery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76305" y="4899422"/>
            <a:ext cx="3641969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Amidst millions of options, intelligent suggestions help users navigate vast libraries, ensuring they find content perfectly aligned with their tastes.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92283" y="3897211"/>
            <a:ext cx="1132580" cy="1132580"/>
            <a:chOff x="0" y="0"/>
            <a:chExt cx="1510106" cy="151010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510157" cy="1510157"/>
            </a:xfrm>
            <a:custGeom>
              <a:avLst/>
              <a:gdLst/>
              <a:ahLst/>
              <a:cxnLst/>
              <a:rect r="r" b="b" t="t" l="l"/>
              <a:pathLst>
                <a:path h="1510157" w="1510157">
                  <a:moveTo>
                    <a:pt x="0" y="0"/>
                  </a:moveTo>
                  <a:lnTo>
                    <a:pt x="1510157" y="0"/>
                  </a:lnTo>
                  <a:lnTo>
                    <a:pt x="1510157" y="1510157"/>
                  </a:lnTo>
                  <a:lnTo>
                    <a:pt x="0" y="151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605862" y="3887686"/>
            <a:ext cx="3399637" cy="92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49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ML-Powered Accuracy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98871" y="4908947"/>
            <a:ext cx="3641969" cy="369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Machine learning algorithms are the backbone, meticulously analysing data to accurately predict user preferences and deliver highly relevant suggestions.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92749" y="601198"/>
            <a:ext cx="14302503" cy="81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2"/>
              </a:lnSpc>
            </a:pPr>
            <a:r>
              <a:rPr lang="en-US" sz="516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Core Approaches to Recommendation Systems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40498" y="1545207"/>
            <a:ext cx="8407003" cy="7196585"/>
            <a:chOff x="0" y="0"/>
            <a:chExt cx="11209338" cy="959544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209401" cy="9595485"/>
            </a:xfrm>
            <a:custGeom>
              <a:avLst/>
              <a:gdLst/>
              <a:ahLst/>
              <a:cxnLst/>
              <a:rect r="r" b="b" t="t" l="l"/>
              <a:pathLst>
                <a:path h="9595485" w="11209401">
                  <a:moveTo>
                    <a:pt x="0" y="0"/>
                  </a:moveTo>
                  <a:lnTo>
                    <a:pt x="11209401" y="0"/>
                  </a:lnTo>
                  <a:lnTo>
                    <a:pt x="11209401" y="9595485"/>
                  </a:lnTo>
                  <a:lnTo>
                    <a:pt x="0" y="9595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" r="0" b="-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163580" y="3784673"/>
            <a:ext cx="216098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375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Content-Based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900" y="3539719"/>
            <a:ext cx="191857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375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Collaborative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86546" y="6911492"/>
            <a:ext cx="213121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375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Hybrid Models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3966" y="8968378"/>
            <a:ext cx="15320067" cy="89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1"/>
              </a:lnSpc>
            </a:pPr>
            <a:r>
              <a:rPr lang="en-US" sz="2587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Recommendation systems employ various strategies to suggest content. Each method offers unique advantages, often combined to enhance overall performance and user satisfaction.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29835" y="1736810"/>
            <a:ext cx="6690243" cy="8328313"/>
            <a:chOff x="0" y="0"/>
            <a:chExt cx="15822315" cy="196963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822315" cy="19696323"/>
            </a:xfrm>
            <a:custGeom>
              <a:avLst/>
              <a:gdLst/>
              <a:ahLst/>
              <a:cxnLst/>
              <a:rect r="r" b="b" t="t" l="l"/>
              <a:pathLst>
                <a:path h="19696323" w="15822315">
                  <a:moveTo>
                    <a:pt x="0" y="0"/>
                  </a:moveTo>
                  <a:lnTo>
                    <a:pt x="15822315" y="0"/>
                  </a:lnTo>
                  <a:lnTo>
                    <a:pt x="15822315" y="19696323"/>
                  </a:lnTo>
                  <a:lnTo>
                    <a:pt x="0" y="19696323"/>
                  </a:lnTo>
                  <a:close/>
                </a:path>
              </a:pathLst>
            </a:custGeom>
            <a:blipFill>
              <a:blip r:embed="rId2"/>
              <a:stretch>
                <a:fillRect l="-60924" t="0" r="-10046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751172"/>
            <a:ext cx="14096286" cy="80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5"/>
              </a:lnSpc>
            </a:pPr>
            <a:r>
              <a:rPr lang="en-US" sz="5099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Movie Recommendation with Cosine Similarity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7288" y="2132857"/>
            <a:ext cx="10172548" cy="192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57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Cosine similarity is a powerful technique for movie recommendations, focusing on the content's intrinsic features. It measures the similarity between two non-zero vectors in an inner product space.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7288" y="4315988"/>
            <a:ext cx="10172548" cy="337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340" indent="-194170" lvl="1">
              <a:lnSpc>
                <a:spcPts val="3862"/>
              </a:lnSpc>
              <a:buFont typeface="Arial"/>
              <a:buChar char="•"/>
            </a:pPr>
            <a:r>
              <a:rPr lang="en-US" b="true" sz="2574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Feature Extraction:</a:t>
            </a:r>
            <a:r>
              <a:rPr lang="en-US" sz="257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Metadata such as genres, cast, keywords, and plot overviews are extracted.</a:t>
            </a:r>
          </a:p>
          <a:p>
            <a:pPr algn="l" marL="388340" indent="-194170" lvl="1">
              <a:lnSpc>
                <a:spcPts val="3862"/>
              </a:lnSpc>
              <a:buFont typeface="Arial"/>
              <a:buChar char="•"/>
            </a:pPr>
            <a:r>
              <a:rPr lang="en-US" b="true" sz="2574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Vectorisation:</a:t>
            </a:r>
            <a:r>
              <a:rPr lang="en-US" sz="257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Textual features are converted into numerical vectors using techniques like TF-IDF or CountVectorizer.</a:t>
            </a:r>
          </a:p>
          <a:p>
            <a:pPr algn="l" marL="388340" indent="-194170" lvl="1">
              <a:lnSpc>
                <a:spcPts val="3862"/>
              </a:lnSpc>
              <a:buFont typeface="Arial"/>
              <a:buChar char="•"/>
            </a:pPr>
            <a:r>
              <a:rPr lang="en-US" b="true" sz="2574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Similarity Calculation:</a:t>
            </a:r>
            <a:r>
              <a:rPr lang="en-US" sz="257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Cosine similarity determines the "angle" between these vectors, identifying movies with the closest matches in content attributes.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013593"/>
            <a:ext cx="10172548" cy="143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57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For example, recommending movies similar to "Spider-Man 3" involves comparing its feature vector to all other films in the database to find the highest similarity scores.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403751"/>
            <a:ext cx="16230600" cy="686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4"/>
              </a:lnSpc>
            </a:pPr>
            <a:r>
              <a:rPr lang="en-US" sz="4371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Advanced Movie Recommendation: Deep Learning &amp; Similarity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93783" y="2803322"/>
            <a:ext cx="9094158" cy="6454978"/>
            <a:chOff x="0" y="0"/>
            <a:chExt cx="8250034" cy="585582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250047" cy="5855837"/>
            </a:xfrm>
            <a:custGeom>
              <a:avLst/>
              <a:gdLst/>
              <a:ahLst/>
              <a:cxnLst/>
              <a:rect r="r" b="b" t="t" l="l"/>
              <a:pathLst>
                <a:path h="5855837" w="8250047">
                  <a:moveTo>
                    <a:pt x="0" y="0"/>
                  </a:moveTo>
                  <a:lnTo>
                    <a:pt x="8250047" y="0"/>
                  </a:lnTo>
                  <a:lnTo>
                    <a:pt x="8250047" y="5855837"/>
                  </a:lnTo>
                  <a:lnTo>
                    <a:pt x="0" y="5855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685" t="0" r="-12685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847937" y="3038475"/>
            <a:ext cx="3163338" cy="19050"/>
            <a:chOff x="0" y="0"/>
            <a:chExt cx="4217784" cy="254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217797" cy="25400"/>
            </a:xfrm>
            <a:custGeom>
              <a:avLst/>
              <a:gdLst/>
              <a:ahLst/>
              <a:cxnLst/>
              <a:rect r="r" b="b" t="t" l="l"/>
              <a:pathLst>
                <a:path h="25400" w="4217797">
                  <a:moveTo>
                    <a:pt x="0" y="0"/>
                  </a:moveTo>
                  <a:lnTo>
                    <a:pt x="4217797" y="0"/>
                  </a:lnTo>
                  <a:lnTo>
                    <a:pt x="4217797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3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889211" y="3143398"/>
            <a:ext cx="2398871" cy="34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27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SDLM Integration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47937" y="3573669"/>
            <a:ext cx="6411363" cy="73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62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The Similarity Based Deep Learning Model (SDLM) combines Spiking Neural Networks with advanced optimisation algorithms for enhanced recommendation accuracy.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47937" y="4463346"/>
            <a:ext cx="225552" cy="21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70" b="true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47937" y="4570809"/>
            <a:ext cx="3163338" cy="19050"/>
            <a:chOff x="0" y="0"/>
            <a:chExt cx="4217784" cy="254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217797" cy="25400"/>
            </a:xfrm>
            <a:custGeom>
              <a:avLst/>
              <a:gdLst/>
              <a:ahLst/>
              <a:cxnLst/>
              <a:rect r="r" b="b" t="t" l="l"/>
              <a:pathLst>
                <a:path h="25400" w="4217797">
                  <a:moveTo>
                    <a:pt x="0" y="0"/>
                  </a:moveTo>
                  <a:lnTo>
                    <a:pt x="4217797" y="0"/>
                  </a:lnTo>
                  <a:lnTo>
                    <a:pt x="4217797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3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847937" y="4802098"/>
            <a:ext cx="2891671" cy="34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227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UPCS Personalisation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47937" y="5232385"/>
            <a:ext cx="6411363" cy="73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2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It utilises User Profile Correlation-Based Similarity (UPCS) to generate highly personalised recommendations, understanding nuanced user preferences.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47937" y="6170788"/>
            <a:ext cx="267682" cy="21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70" b="true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47937" y="6509539"/>
            <a:ext cx="2976682" cy="34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227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Superior Performance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47937" y="7006502"/>
            <a:ext cx="6547197" cy="73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2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SDLM consistently outperforms traditional models, including Recurrent Neural Networks (RNN) and Artificial Neural Networks (ANN), across key metrics like precision and recall.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47937" y="7880755"/>
            <a:ext cx="225552" cy="21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470" b="true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04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47937" y="7635631"/>
            <a:ext cx="3163338" cy="19050"/>
            <a:chOff x="0" y="0"/>
            <a:chExt cx="4217784" cy="254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4217797" cy="25400"/>
            </a:xfrm>
            <a:custGeom>
              <a:avLst/>
              <a:gdLst/>
              <a:ahLst/>
              <a:cxnLst/>
              <a:rect r="r" b="b" t="t" l="l"/>
              <a:pathLst>
                <a:path h="25400" w="4217797">
                  <a:moveTo>
                    <a:pt x="0" y="0"/>
                  </a:moveTo>
                  <a:lnTo>
                    <a:pt x="4217797" y="0"/>
                  </a:lnTo>
                  <a:lnTo>
                    <a:pt x="4217797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33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853295" y="8181407"/>
            <a:ext cx="2965966" cy="34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227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Real-World Validation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47937" y="8640269"/>
            <a:ext cx="6411363" cy="73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62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This model has been rigorously implemented and tested using authentic movie datasets within a MATLAB environment, proving its efficacy.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83897" y="2793797"/>
            <a:ext cx="194905" cy="2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0"/>
              </a:lnSpc>
              <a:spcBef>
                <a:spcPct val="0"/>
              </a:spcBef>
            </a:pPr>
            <a:r>
              <a:rPr lang="en-US" b="true" sz="1472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01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97132" y="990600"/>
            <a:ext cx="14452878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51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Music Recommendation Using Cosine Similarity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1663" y="2399693"/>
            <a:ext cx="4946332" cy="4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1"/>
              </a:lnSpc>
            </a:pPr>
            <a:r>
              <a:rPr lang="en-US" sz="296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Leveraging Textual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7187" y="2973307"/>
            <a:ext cx="6120933" cy="57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187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Music recommendation systems using cosine similarity delve into the textual attributes of songs: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77187" y="3690713"/>
            <a:ext cx="6120933" cy="1993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020" indent="-141010" lvl="1">
              <a:lnSpc>
                <a:spcPts val="2295"/>
              </a:lnSpc>
              <a:buFont typeface="Arial"/>
              <a:buChar char="•"/>
            </a:pPr>
            <a:r>
              <a:rPr lang="en-US" b="true" sz="1870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Lyric Analysis:</a:t>
            </a:r>
            <a:r>
              <a:rPr lang="en-US" sz="187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Extracts keywords and themes from song lyrics.</a:t>
            </a:r>
          </a:p>
          <a:p>
            <a:pPr algn="l" marL="282020" indent="-141010" lvl="1">
              <a:lnSpc>
                <a:spcPts val="2295"/>
              </a:lnSpc>
              <a:buFont typeface="Arial"/>
              <a:buChar char="•"/>
            </a:pPr>
            <a:r>
              <a:rPr lang="en-US" b="true" sz="1870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Artist &amp; Metadata:</a:t>
            </a:r>
            <a:r>
              <a:rPr lang="en-US" sz="187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Incorporates artist names, genres, and other available metadata.</a:t>
            </a:r>
          </a:p>
          <a:p>
            <a:pPr algn="l" marL="282020" indent="-141010" lvl="1">
              <a:lnSpc>
                <a:spcPts val="2295"/>
              </a:lnSpc>
              <a:buFont typeface="Arial"/>
              <a:buChar char="•"/>
            </a:pPr>
            <a:r>
              <a:rPr lang="en-US" b="true" sz="1870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Vector Representation:</a:t>
            </a:r>
            <a:r>
              <a:rPr lang="en-US" sz="187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Builds item matrices where each song is represented as a vector based on these features.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1663" y="5798786"/>
            <a:ext cx="4398050" cy="4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8"/>
              </a:lnSpc>
            </a:pPr>
            <a:r>
              <a:rPr lang="en-US" sz="296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Content-Based Matching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7187" y="6444987"/>
            <a:ext cx="6120933" cy="850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869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Cosine similarity then identifies songs that share similar lyrical content, musical styles, or thematic elements, offering highly relevant suggestions.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1663" y="7476735"/>
            <a:ext cx="3480673" cy="4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1"/>
              </a:lnSpc>
            </a:pPr>
            <a:r>
              <a:rPr lang="en-US" sz="2962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Integrated Playback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7187" y="8121777"/>
            <a:ext cx="6120933" cy="113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sz="1869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Advanced systems can integrate with services like the YouTube API, utilising web scraping to fetch and play recommended music videos, enhancing the user experience.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444915" y="2418743"/>
            <a:ext cx="8814385" cy="6839557"/>
            <a:chOff x="0" y="0"/>
            <a:chExt cx="9658744" cy="749474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658731" cy="7494688"/>
            </a:xfrm>
            <a:custGeom>
              <a:avLst/>
              <a:gdLst/>
              <a:ahLst/>
              <a:cxnLst/>
              <a:rect r="r" b="b" t="t" l="l"/>
              <a:pathLst>
                <a:path h="7494688" w="9658731">
                  <a:moveTo>
                    <a:pt x="0" y="0"/>
                  </a:moveTo>
                  <a:lnTo>
                    <a:pt x="9658731" y="0"/>
                  </a:lnTo>
                  <a:lnTo>
                    <a:pt x="9658731" y="7494688"/>
                  </a:lnTo>
                  <a:lnTo>
                    <a:pt x="0" y="7494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503" t="0" r="-18503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0588" y="1314393"/>
            <a:ext cx="14439424" cy="83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6"/>
              </a:lnSpc>
            </a:pPr>
            <a:r>
              <a:rPr lang="en-US" sz="5287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Machine Learning in Music Recommendations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0588" y="3288954"/>
            <a:ext cx="8145218" cy="2552852"/>
            <a:chOff x="0" y="0"/>
            <a:chExt cx="10860291" cy="34038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60278" cy="3403854"/>
            </a:xfrm>
            <a:custGeom>
              <a:avLst/>
              <a:gdLst/>
              <a:ahLst/>
              <a:cxnLst/>
              <a:rect r="r" b="b" t="t" l="l"/>
              <a:pathLst>
                <a:path h="3403854" w="10860278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77398" y="0"/>
                  </a:lnTo>
                  <a:cubicBezTo>
                    <a:pt x="10778363" y="0"/>
                    <a:pt x="10860278" y="81915"/>
                    <a:pt x="10860278" y="182880"/>
                  </a:cubicBezTo>
                  <a:lnTo>
                    <a:pt x="10860278" y="3220974"/>
                  </a:lnTo>
                  <a:cubicBezTo>
                    <a:pt x="10860278" y="3321939"/>
                    <a:pt x="10778363" y="3403854"/>
                    <a:pt x="10677398" y="3403854"/>
                  </a:cubicBezTo>
                  <a:lnTo>
                    <a:pt x="182880" y="3403854"/>
                  </a:lnTo>
                  <a:cubicBezTo>
                    <a:pt x="81915" y="3403854"/>
                    <a:pt x="0" y="3321939"/>
                    <a:pt x="0" y="3220974"/>
                  </a:cubicBezTo>
                  <a:close/>
                </a:path>
              </a:pathLst>
            </a:custGeom>
            <a:solidFill>
              <a:srgbClr val="25283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0588" y="3260379"/>
            <a:ext cx="8145218" cy="114300"/>
            <a:chOff x="0" y="0"/>
            <a:chExt cx="10860291" cy="1524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860278" cy="152400"/>
            </a:xfrm>
            <a:custGeom>
              <a:avLst/>
              <a:gdLst/>
              <a:ahLst/>
              <a:cxnLst/>
              <a:rect r="r" b="b" t="t" l="l"/>
              <a:pathLst>
                <a:path h="152400" w="10860278">
                  <a:moveTo>
                    <a:pt x="0" y="0"/>
                  </a:moveTo>
                  <a:lnTo>
                    <a:pt x="10860278" y="0"/>
                  </a:lnTo>
                  <a:lnTo>
                    <a:pt x="10860278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" r="0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581449" y="2907354"/>
            <a:ext cx="763343" cy="763343"/>
            <a:chOff x="0" y="0"/>
            <a:chExt cx="1017791" cy="101779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17778" cy="1017778"/>
            </a:xfrm>
            <a:custGeom>
              <a:avLst/>
              <a:gdLst/>
              <a:ahLst/>
              <a:cxnLst/>
              <a:rect r="r" b="b" t="t" l="l"/>
              <a:pathLst>
                <a:path h="1017778" w="1017778">
                  <a:moveTo>
                    <a:pt x="0" y="0"/>
                  </a:moveTo>
                  <a:lnTo>
                    <a:pt x="1017778" y="0"/>
                  </a:lnTo>
                  <a:lnTo>
                    <a:pt x="1017778" y="1017778"/>
                  </a:lnTo>
                  <a:lnTo>
                    <a:pt x="0" y="1017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4810496" y="3136259"/>
            <a:ext cx="305248" cy="305248"/>
          </a:xfrm>
          <a:custGeom>
            <a:avLst/>
            <a:gdLst/>
            <a:ahLst/>
            <a:cxnLst/>
            <a:rect r="r" b="b" t="t" l="l"/>
            <a:pathLst>
              <a:path h="305248" w="305248">
                <a:moveTo>
                  <a:pt x="0" y="0"/>
                </a:moveTo>
                <a:lnTo>
                  <a:pt x="305248" y="0"/>
                </a:lnTo>
                <a:lnTo>
                  <a:pt x="305248" y="305247"/>
                </a:lnTo>
                <a:lnTo>
                  <a:pt x="0" y="305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546" t="0" r="-4543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73509" y="3905993"/>
            <a:ext cx="3861435" cy="4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7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Content-Based Filtering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3509" y="4468965"/>
            <a:ext cx="7579366" cy="1093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Analyses intrinsic song attributes (genre, tempo, instrumentation) and aligns them with user preferences, learning what individual users typically enjoy.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2052" y="3288954"/>
            <a:ext cx="8145361" cy="2552852"/>
            <a:chOff x="0" y="0"/>
            <a:chExt cx="10860481" cy="34038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60532" cy="3403854"/>
            </a:xfrm>
            <a:custGeom>
              <a:avLst/>
              <a:gdLst/>
              <a:ahLst/>
              <a:cxnLst/>
              <a:rect r="r" b="b" t="t" l="l"/>
              <a:pathLst>
                <a:path h="3403854" w="1086053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77652" y="0"/>
                  </a:lnTo>
                  <a:cubicBezTo>
                    <a:pt x="10778617" y="0"/>
                    <a:pt x="10860532" y="81915"/>
                    <a:pt x="10860532" y="182880"/>
                  </a:cubicBezTo>
                  <a:lnTo>
                    <a:pt x="10860532" y="3220974"/>
                  </a:lnTo>
                  <a:cubicBezTo>
                    <a:pt x="10860532" y="3321939"/>
                    <a:pt x="10778617" y="3403854"/>
                    <a:pt x="10677652" y="3403854"/>
                  </a:cubicBezTo>
                  <a:lnTo>
                    <a:pt x="182880" y="3403854"/>
                  </a:lnTo>
                  <a:cubicBezTo>
                    <a:pt x="81915" y="3403854"/>
                    <a:pt x="0" y="3321939"/>
                    <a:pt x="0" y="3220974"/>
                  </a:cubicBezTo>
                  <a:close/>
                </a:path>
              </a:pathLst>
            </a:custGeom>
            <a:solidFill>
              <a:srgbClr val="25283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52052" y="3260379"/>
            <a:ext cx="8145361" cy="114300"/>
            <a:chOff x="0" y="0"/>
            <a:chExt cx="10860481" cy="1524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0860532" cy="152400"/>
            </a:xfrm>
            <a:custGeom>
              <a:avLst/>
              <a:gdLst/>
              <a:ahLst/>
              <a:cxnLst/>
              <a:rect r="r" b="b" t="t" l="l"/>
              <a:pathLst>
                <a:path h="152400" w="10860532">
                  <a:moveTo>
                    <a:pt x="0" y="0"/>
                  </a:moveTo>
                  <a:lnTo>
                    <a:pt x="10860532" y="0"/>
                  </a:lnTo>
                  <a:lnTo>
                    <a:pt x="10860532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" r="0" b="-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943065" y="2907354"/>
            <a:ext cx="763343" cy="763343"/>
            <a:chOff x="0" y="0"/>
            <a:chExt cx="1017791" cy="1017791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017778" cy="1017778"/>
            </a:xfrm>
            <a:custGeom>
              <a:avLst/>
              <a:gdLst/>
              <a:ahLst/>
              <a:cxnLst/>
              <a:rect r="r" b="b" t="t" l="l"/>
              <a:pathLst>
                <a:path h="1017778" w="1017778">
                  <a:moveTo>
                    <a:pt x="0" y="0"/>
                  </a:moveTo>
                  <a:lnTo>
                    <a:pt x="1017778" y="0"/>
                  </a:lnTo>
                  <a:lnTo>
                    <a:pt x="1017778" y="1017778"/>
                  </a:lnTo>
                  <a:lnTo>
                    <a:pt x="0" y="1017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13172103" y="3136259"/>
            <a:ext cx="305248" cy="305248"/>
          </a:xfrm>
          <a:custGeom>
            <a:avLst/>
            <a:gdLst/>
            <a:ahLst/>
            <a:cxnLst/>
            <a:rect r="r" b="b" t="t" l="l"/>
            <a:pathLst>
              <a:path h="305248" w="305248">
                <a:moveTo>
                  <a:pt x="0" y="0"/>
                </a:moveTo>
                <a:lnTo>
                  <a:pt x="305248" y="0"/>
                </a:lnTo>
                <a:lnTo>
                  <a:pt x="305248" y="305247"/>
                </a:lnTo>
                <a:lnTo>
                  <a:pt x="0" y="305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576" t="0" r="-7573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534973" y="3905993"/>
            <a:ext cx="3562112" cy="4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7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Collaborative Filtering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34973" y="4468965"/>
            <a:ext cx="7579519" cy="1093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Leverages the listening patterns of similar users to recommend songs. If User A and User B share many common tastes, songs liked by B but not heard by A are suggested.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0588" y="6439643"/>
            <a:ext cx="8145218" cy="2552852"/>
            <a:chOff x="0" y="0"/>
            <a:chExt cx="10860291" cy="34038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60278" cy="3403854"/>
            </a:xfrm>
            <a:custGeom>
              <a:avLst/>
              <a:gdLst/>
              <a:ahLst/>
              <a:cxnLst/>
              <a:rect r="r" b="b" t="t" l="l"/>
              <a:pathLst>
                <a:path h="3403854" w="10860278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77398" y="0"/>
                  </a:lnTo>
                  <a:cubicBezTo>
                    <a:pt x="10778363" y="0"/>
                    <a:pt x="10860278" y="81915"/>
                    <a:pt x="10860278" y="182880"/>
                  </a:cubicBezTo>
                  <a:lnTo>
                    <a:pt x="10860278" y="3220974"/>
                  </a:lnTo>
                  <a:cubicBezTo>
                    <a:pt x="10860278" y="3321939"/>
                    <a:pt x="10778363" y="3403854"/>
                    <a:pt x="10677398" y="3403854"/>
                  </a:cubicBezTo>
                  <a:lnTo>
                    <a:pt x="182880" y="3403854"/>
                  </a:lnTo>
                  <a:cubicBezTo>
                    <a:pt x="81915" y="3403854"/>
                    <a:pt x="0" y="3321939"/>
                    <a:pt x="0" y="3220974"/>
                  </a:cubicBezTo>
                  <a:close/>
                </a:path>
              </a:pathLst>
            </a:custGeom>
            <a:solidFill>
              <a:srgbClr val="25283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90588" y="6411068"/>
            <a:ext cx="8145218" cy="114300"/>
            <a:chOff x="0" y="0"/>
            <a:chExt cx="10860291" cy="1524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0860278" cy="152400"/>
            </a:xfrm>
            <a:custGeom>
              <a:avLst/>
              <a:gdLst/>
              <a:ahLst/>
              <a:cxnLst/>
              <a:rect r="r" b="b" t="t" l="l"/>
              <a:pathLst>
                <a:path h="152400" w="10860278">
                  <a:moveTo>
                    <a:pt x="0" y="0"/>
                  </a:moveTo>
                  <a:lnTo>
                    <a:pt x="10860278" y="0"/>
                  </a:lnTo>
                  <a:lnTo>
                    <a:pt x="10860278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" r="0" b="-8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581449" y="6058052"/>
            <a:ext cx="763343" cy="763343"/>
            <a:chOff x="0" y="0"/>
            <a:chExt cx="1017791" cy="1017791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017778" cy="1017778"/>
            </a:xfrm>
            <a:custGeom>
              <a:avLst/>
              <a:gdLst/>
              <a:ahLst/>
              <a:cxnLst/>
              <a:rect r="r" b="b" t="t" l="l"/>
              <a:pathLst>
                <a:path h="1017778" w="1017778">
                  <a:moveTo>
                    <a:pt x="0" y="0"/>
                  </a:moveTo>
                  <a:lnTo>
                    <a:pt x="1017778" y="0"/>
                  </a:lnTo>
                  <a:lnTo>
                    <a:pt x="1017778" y="1017778"/>
                  </a:lnTo>
                  <a:lnTo>
                    <a:pt x="0" y="1017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4810496" y="6286948"/>
            <a:ext cx="305248" cy="305248"/>
          </a:xfrm>
          <a:custGeom>
            <a:avLst/>
            <a:gdLst/>
            <a:ahLst/>
            <a:cxnLst/>
            <a:rect r="r" b="b" t="t" l="l"/>
            <a:pathLst>
              <a:path h="305248" w="305248">
                <a:moveTo>
                  <a:pt x="0" y="0"/>
                </a:moveTo>
                <a:lnTo>
                  <a:pt x="305248" y="0"/>
                </a:lnTo>
                <a:lnTo>
                  <a:pt x="305248" y="305247"/>
                </a:lnTo>
                <a:lnTo>
                  <a:pt x="0" y="3052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0606" r="0" b="-10606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73509" y="7056682"/>
            <a:ext cx="2356961" cy="4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7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Hybrid Models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3509" y="7617619"/>
            <a:ext cx="7579366" cy="146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By combining both content-based and collaborative approaches, hybrid models mitigate the weaknesses of each, leading to significantly improved recommendation quality and diversity.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52052" y="6439643"/>
            <a:ext cx="8145361" cy="2552852"/>
            <a:chOff x="0" y="0"/>
            <a:chExt cx="10860481" cy="34038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60532" cy="3403854"/>
            </a:xfrm>
            <a:custGeom>
              <a:avLst/>
              <a:gdLst/>
              <a:ahLst/>
              <a:cxnLst/>
              <a:rect r="r" b="b" t="t" l="l"/>
              <a:pathLst>
                <a:path h="3403854" w="1086053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77652" y="0"/>
                  </a:lnTo>
                  <a:cubicBezTo>
                    <a:pt x="10778617" y="0"/>
                    <a:pt x="10860532" y="81915"/>
                    <a:pt x="10860532" y="182880"/>
                  </a:cubicBezTo>
                  <a:lnTo>
                    <a:pt x="10860532" y="3220974"/>
                  </a:lnTo>
                  <a:cubicBezTo>
                    <a:pt x="10860532" y="3321939"/>
                    <a:pt x="10778617" y="3403854"/>
                    <a:pt x="10677652" y="3403854"/>
                  </a:cubicBezTo>
                  <a:lnTo>
                    <a:pt x="182880" y="3403854"/>
                  </a:lnTo>
                  <a:cubicBezTo>
                    <a:pt x="81915" y="3403854"/>
                    <a:pt x="0" y="3321939"/>
                    <a:pt x="0" y="3220974"/>
                  </a:cubicBezTo>
                  <a:close/>
                </a:path>
              </a:pathLst>
            </a:custGeom>
            <a:solidFill>
              <a:srgbClr val="25283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252052" y="6411068"/>
            <a:ext cx="8145361" cy="114300"/>
            <a:chOff x="0" y="0"/>
            <a:chExt cx="10860481" cy="1524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10860532" cy="152400"/>
            </a:xfrm>
            <a:custGeom>
              <a:avLst/>
              <a:gdLst/>
              <a:ahLst/>
              <a:cxnLst/>
              <a:rect r="r" b="b" t="t" l="l"/>
              <a:pathLst>
                <a:path h="152400" w="10860532">
                  <a:moveTo>
                    <a:pt x="0" y="0"/>
                  </a:moveTo>
                  <a:lnTo>
                    <a:pt x="10860532" y="0"/>
                  </a:lnTo>
                  <a:lnTo>
                    <a:pt x="10860532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" r="0" b="-8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943065" y="6058052"/>
            <a:ext cx="763343" cy="763343"/>
            <a:chOff x="0" y="0"/>
            <a:chExt cx="1017791" cy="1017791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017778" cy="1017778"/>
            </a:xfrm>
            <a:custGeom>
              <a:avLst/>
              <a:gdLst/>
              <a:ahLst/>
              <a:cxnLst/>
              <a:rect r="r" b="b" t="t" l="l"/>
              <a:pathLst>
                <a:path h="1017778" w="1017778">
                  <a:moveTo>
                    <a:pt x="0" y="0"/>
                  </a:moveTo>
                  <a:lnTo>
                    <a:pt x="1017778" y="0"/>
                  </a:lnTo>
                  <a:lnTo>
                    <a:pt x="1017778" y="1017778"/>
                  </a:lnTo>
                  <a:lnTo>
                    <a:pt x="0" y="1017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13172103" y="6286948"/>
            <a:ext cx="305248" cy="305248"/>
          </a:xfrm>
          <a:custGeom>
            <a:avLst/>
            <a:gdLst/>
            <a:ahLst/>
            <a:cxnLst/>
            <a:rect r="r" b="b" t="t" l="l"/>
            <a:pathLst>
              <a:path h="305248" w="305248">
                <a:moveTo>
                  <a:pt x="0" y="0"/>
                </a:moveTo>
                <a:lnTo>
                  <a:pt x="305248" y="0"/>
                </a:lnTo>
                <a:lnTo>
                  <a:pt x="305248" y="305247"/>
                </a:lnTo>
                <a:lnTo>
                  <a:pt x="0" y="305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2725" t="0" r="-22729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9534973" y="7056682"/>
            <a:ext cx="3395782" cy="423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7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Real-World Adoption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34973" y="7668444"/>
            <a:ext cx="7579519" cy="146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00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Leading platforms such as Netease Cloud Music and QQ Music extensively employ these sophisticated machine learning techniques to provide their users with an unparalleled music discovery experience.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1085850"/>
            <a:ext cx="11832879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Practical Implementation Highlights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159" y="2583361"/>
            <a:ext cx="3767880" cy="2328710"/>
            <a:chOff x="0" y="0"/>
            <a:chExt cx="5023841" cy="310494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5023866" cy="3104896"/>
            </a:xfrm>
            <a:custGeom>
              <a:avLst/>
              <a:gdLst/>
              <a:ahLst/>
              <a:cxnLst/>
              <a:rect r="r" b="b" t="t" l="l"/>
              <a:pathLst>
                <a:path h="3104896" w="5023866">
                  <a:moveTo>
                    <a:pt x="0" y="0"/>
                  </a:moveTo>
                  <a:lnTo>
                    <a:pt x="5023866" y="0"/>
                  </a:lnTo>
                  <a:lnTo>
                    <a:pt x="5023866" y="3104896"/>
                  </a:lnTo>
                  <a:lnTo>
                    <a:pt x="0" y="310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2" t="0" r="-152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47159" y="5192163"/>
            <a:ext cx="3510796" cy="47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49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Data Preprocessing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9" y="5830643"/>
            <a:ext cx="3767880" cy="369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This crucial step involves merging disparate datasets, meticulously handling missing values, and extracting relevant features such as cast, director, and genres from raw data.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89039" y="2583361"/>
            <a:ext cx="3767880" cy="2328710"/>
            <a:chOff x="0" y="0"/>
            <a:chExt cx="5023841" cy="310494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023866" cy="3104896"/>
            </a:xfrm>
            <a:custGeom>
              <a:avLst/>
              <a:gdLst/>
              <a:ahLst/>
              <a:cxnLst/>
              <a:rect r="r" b="b" t="t" l="l"/>
              <a:pathLst>
                <a:path h="3104896" w="5023866">
                  <a:moveTo>
                    <a:pt x="0" y="0"/>
                  </a:moveTo>
                  <a:lnTo>
                    <a:pt x="5023866" y="0"/>
                  </a:lnTo>
                  <a:lnTo>
                    <a:pt x="5023866" y="3104896"/>
                  </a:lnTo>
                  <a:lnTo>
                    <a:pt x="0" y="310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2" t="0" r="-152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189039" y="5192163"/>
            <a:ext cx="2440186" cy="47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49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Vectorization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89039" y="5830643"/>
            <a:ext cx="3767880" cy="369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Transforms qualitative textual data, like movie synopses or song lyrics, into quantitative numerical vectors. This enables mathematical operations required for similarity calculations.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30928" y="2583361"/>
            <a:ext cx="3767880" cy="2328710"/>
            <a:chOff x="0" y="0"/>
            <a:chExt cx="5023841" cy="310494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023866" cy="3104896"/>
            </a:xfrm>
            <a:custGeom>
              <a:avLst/>
              <a:gdLst/>
              <a:ahLst/>
              <a:cxnLst/>
              <a:rect r="r" b="b" t="t" l="l"/>
              <a:pathLst>
                <a:path h="3104896" w="5023866">
                  <a:moveTo>
                    <a:pt x="0" y="0"/>
                  </a:moveTo>
                  <a:lnTo>
                    <a:pt x="5023866" y="0"/>
                  </a:lnTo>
                  <a:lnTo>
                    <a:pt x="5023866" y="3104896"/>
                  </a:lnTo>
                  <a:lnTo>
                    <a:pt x="0" y="310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2" t="0" r="-152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30928" y="5192163"/>
            <a:ext cx="3767880" cy="95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49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Recommendation Function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30928" y="6211643"/>
            <a:ext cx="3767880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At its core, this function computes cosine similarity scores between items, then sorts and retrieves the top-N most similar items for user recommendation.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72817" y="2583361"/>
            <a:ext cx="3768033" cy="2328710"/>
            <a:chOff x="0" y="0"/>
            <a:chExt cx="5024044" cy="310494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5023993" cy="3104896"/>
            </a:xfrm>
            <a:custGeom>
              <a:avLst/>
              <a:gdLst/>
              <a:ahLst/>
              <a:cxnLst/>
              <a:rect r="r" b="b" t="t" l="l"/>
              <a:pathLst>
                <a:path h="3104896" w="5023993">
                  <a:moveTo>
                    <a:pt x="0" y="0"/>
                  </a:moveTo>
                  <a:lnTo>
                    <a:pt x="5023993" y="0"/>
                  </a:lnTo>
                  <a:lnTo>
                    <a:pt x="5023993" y="3104896"/>
                  </a:lnTo>
                  <a:lnTo>
                    <a:pt x="0" y="310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0" t="0" r="-151" b="-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472817" y="5192163"/>
            <a:ext cx="3768033" cy="95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49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User Interface Examples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72817" y="6211643"/>
            <a:ext cx="3768033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Real-world applications showcase intuitive interfaces, such as Netflix-inspired movie recommenders featuring integrated poster displays and direct trailer playback.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000125"/>
            <a:ext cx="10571679" cy="89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2"/>
              </a:lnSpc>
            </a:pPr>
            <a:r>
              <a:rPr lang="en-US" sz="5737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Challenges &amp; Future Directions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2817914"/>
            <a:ext cx="9022083" cy="6076209"/>
            <a:chOff x="0" y="0"/>
            <a:chExt cx="12029444" cy="810161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029495" cy="8101544"/>
            </a:xfrm>
            <a:custGeom>
              <a:avLst/>
              <a:gdLst/>
              <a:ahLst/>
              <a:cxnLst/>
              <a:rect r="r" b="b" t="t" l="l"/>
              <a:pathLst>
                <a:path h="8101544" w="12029495">
                  <a:moveTo>
                    <a:pt x="0" y="0"/>
                  </a:moveTo>
                  <a:lnTo>
                    <a:pt x="12029495" y="0"/>
                  </a:lnTo>
                  <a:lnTo>
                    <a:pt x="12029495" y="8101544"/>
                  </a:lnTo>
                  <a:lnTo>
                    <a:pt x="0" y="810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454" t="0" r="-945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314286" y="2770289"/>
            <a:ext cx="6945014" cy="612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3097" indent="-171548" lvl="1">
              <a:lnSpc>
                <a:spcPts val="3260"/>
              </a:lnSpc>
              <a:buFont typeface="Arial"/>
              <a:buChar char="•"/>
            </a:pPr>
            <a:r>
              <a:rPr lang="en-US" b="true" sz="2274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Scalability:</a:t>
            </a:r>
            <a:r>
              <a:rPr lang="en-US" sz="227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Effectively managing and processing data for millions of items and users remains a significant hurdle for large-scale systems.</a:t>
            </a:r>
          </a:p>
          <a:p>
            <a:pPr algn="l" marL="343097" indent="-171548" lvl="1">
              <a:lnSpc>
                <a:spcPts val="3260"/>
              </a:lnSpc>
              <a:buFont typeface="Arial"/>
              <a:buChar char="•"/>
            </a:pPr>
            <a:r>
              <a:rPr lang="en-US" b="true" sz="2274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Cold Start Problem:</a:t>
            </a:r>
            <a:r>
              <a:rPr lang="en-US" sz="227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Developing accurate recommendations for new users or items with limited interaction data continues to be a complex challenge.</a:t>
            </a:r>
          </a:p>
          <a:p>
            <a:pPr algn="l" marL="343097" indent="-171548" lvl="1">
              <a:lnSpc>
                <a:spcPts val="3260"/>
              </a:lnSpc>
              <a:buFont typeface="Arial"/>
              <a:buChar char="•"/>
            </a:pPr>
            <a:r>
              <a:rPr lang="en-US" b="true" sz="2274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Multimodal Data:</a:t>
            </a:r>
            <a:r>
              <a:rPr lang="en-US" sz="227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Integrating diverse data types such as images, audio features, and unstructured user reviews offers rich potential for more nuanced recommendations.</a:t>
            </a:r>
          </a:p>
          <a:p>
            <a:pPr algn="l" marL="343097" indent="-171548" lvl="1">
              <a:lnSpc>
                <a:spcPts val="3260"/>
              </a:lnSpc>
              <a:buFont typeface="Arial"/>
              <a:buChar char="•"/>
            </a:pPr>
            <a:r>
              <a:rPr lang="en-US" b="true" sz="2274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Emerging Trends:</a:t>
            </a:r>
            <a:r>
              <a:rPr lang="en-US" sz="2274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The field is rapidly evolving with advancements in deep learning, graph-based models, and the demand for real-time recommendation capabilities.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2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8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05159" y="1009650"/>
            <a:ext cx="9335691" cy="177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Conclusion: Unlocking Personalised Entertainment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05159" y="3115859"/>
            <a:ext cx="9335691" cy="614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8916" indent="-189458" lvl="1">
              <a:lnSpc>
                <a:spcPts val="4074"/>
              </a:lnSpc>
              <a:buFont typeface="Arial"/>
              <a:buChar char="•"/>
            </a:pPr>
            <a:r>
              <a:rPr lang="en-US" b="true" sz="2512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Transformative Experience:</a:t>
            </a:r>
            <a:r>
              <a:rPr lang="en-US" sz="25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Machine learning-powered recommendation systems revolutionise user engagement in both film and music.</a:t>
            </a:r>
          </a:p>
          <a:p>
            <a:pPr algn="l" marL="378916" indent="-189458" lvl="1">
              <a:lnSpc>
                <a:spcPts val="4074"/>
              </a:lnSpc>
              <a:buFont typeface="Arial"/>
              <a:buChar char="•"/>
            </a:pPr>
            <a:r>
              <a:rPr lang="en-US" b="true" sz="2512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Cosine Similarity:</a:t>
            </a:r>
            <a:r>
              <a:rPr lang="en-US" sz="25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An intuitive and highly effective metric for identifying and measuring content similarity across various media types.</a:t>
            </a:r>
          </a:p>
          <a:p>
            <a:pPr algn="l" marL="378916" indent="-189458" lvl="1">
              <a:lnSpc>
                <a:spcPts val="4074"/>
              </a:lnSpc>
              <a:buFont typeface="Arial"/>
              <a:buChar char="•"/>
            </a:pPr>
            <a:r>
              <a:rPr lang="en-US" b="true" sz="2512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Enhanced Accuracy:</a:t>
            </a:r>
            <a:r>
              <a:rPr lang="en-US" sz="25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Advanced models continually improve precision, leading to superior user satisfaction and discovery of relevant content.</a:t>
            </a:r>
          </a:p>
          <a:p>
            <a:pPr algn="l" marL="378916" indent="-189458" lvl="1">
              <a:lnSpc>
                <a:spcPts val="4074"/>
              </a:lnSpc>
              <a:buFont typeface="Arial"/>
              <a:buChar char="•"/>
            </a:pPr>
            <a:r>
              <a:rPr lang="en-US" b="true" sz="2512">
                <a:solidFill>
                  <a:srgbClr val="D6E5EF"/>
                </a:solidFill>
                <a:latin typeface="Lora Bold"/>
                <a:ea typeface="Lora Bold"/>
                <a:cs typeface="Lora Bold"/>
                <a:sym typeface="Lora Bold"/>
              </a:rPr>
              <a:t>Future Innovations:</a:t>
            </a:r>
            <a:r>
              <a:rPr lang="en-US" sz="2512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 The horizon promises even smarter, more personalised recommendations through continuous advancements in AI and data analysis.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DAHBpSQg98s</dc:identifier>
  <dcterms:modified xsi:type="dcterms:W3CDTF">2011-08-01T06:04:30Z</dcterms:modified>
  <cp:revision>1</cp:revision>
  <dc:title>Presented by - DEBMALLYA GHOSH 2) PRIYANKA DUTTA (ROLL NO : 10300323104) (ELECTRONICS COMMUNICATION ENGINEERING) 3) PIJUSH MANNA (ROLL NO : 10301623052) (ELECTRICAL ENGINEERING) GROUP NAME : TRIMIND TEACHER’S NAME : MR. DEBASHIS SAHOO</dc:title>
</cp:coreProperties>
</file>